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4" roundtripDataSignature="AMtx7mhD0TSUD3PCGdUJhRW/UtHFZY2N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Hello, today I will present our Warehouse Robot project. This project demonstrates object-oriented programming principles through a simulated robot moving in a warehouse environment.</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this part, I briefly show the simulation and the code structure. The robot moves on a grid and must reach a target. In the advanced version, obstacles and a battery constraint are added. An agent decides which action to take at each step.</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project was developed in three main versions. Each version adds new constraints and improves realism, while keeping the same overall architecture.</a:t>
            </a:r>
            <a:endParaRPr/>
          </a:p>
        </p:txBody>
      </p:sp>
      <p:sp>
        <p:nvSpPr>
          <p:cNvPr id="101" name="Google Shape;101;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environment follows the Gymnasium interface. It is responsible for managing the grid, the robot position, the target, and the reward logic. It does not know how the agent makes decisions.</a:t>
            </a:r>
            <a:endParaRPr/>
          </a:p>
        </p:txBody>
      </p:sp>
      <p:sp>
        <p:nvSpPr>
          <p:cNvPr id="110" name="Google Shape;11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Agents inherit from a common abstract base class. RandomAgent chooses actions randomly, while GreedyAgent uses the observation to move closer to the target. This demonstrates polymorphism.</a:t>
            </a:r>
            <a:endParaRPr/>
          </a:p>
        </p:txBody>
      </p:sp>
      <p:sp>
        <p:nvSpPr>
          <p:cNvPr id="119" name="Google Shape;119;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Trainer class orchestrates the interaction between the agent and the environment. It runs episodes and computes statistics such as success rate and average reward.</a:t>
            </a:r>
            <a:endParaRPr/>
          </a:p>
        </p:txBody>
      </p:sp>
      <p:sp>
        <p:nvSpPr>
          <p:cNvPr id="128" name="Google Shape;12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UML diagram is more complete but still easy to read on a single slide.</a:t>
            </a:r>
            <a:endParaRPr/>
          </a:p>
          <a:p>
            <a:pPr indent="0" lvl="0" marL="0" rtl="0" algn="l">
              <a:spcBef>
                <a:spcPts val="0"/>
              </a:spcBef>
              <a:spcAft>
                <a:spcPts val="0"/>
              </a:spcAft>
              <a:buNone/>
            </a:pPr>
            <a:r>
              <a:rPr lang="en-US"/>
              <a:t>WarehouseRobotEnv is the main Gymnasium environment with reset, step, and render.</a:t>
            </a:r>
            <a:endParaRPr/>
          </a:p>
          <a:p>
            <a:pPr indent="0" lvl="0" marL="0" rtl="0" algn="l">
              <a:spcBef>
                <a:spcPts val="0"/>
              </a:spcBef>
              <a:spcAft>
                <a:spcPts val="0"/>
              </a:spcAft>
              <a:buNone/>
            </a:pPr>
            <a:r>
              <a:rPr lang="en-US"/>
              <a:t>AdvancedWarehouseRobotEnv inherits from it and adds obstacles plus a battery constraint.</a:t>
            </a:r>
            <a:endParaRPr/>
          </a:p>
          <a:p>
            <a:pPr indent="0" lvl="0" marL="0" rtl="0" algn="l">
              <a:spcBef>
                <a:spcPts val="0"/>
              </a:spcBef>
              <a:spcAft>
                <a:spcPts val="0"/>
              </a:spcAft>
              <a:buNone/>
            </a:pPr>
            <a:r>
              <a:rPr lang="en-US"/>
              <a:t>The environment has a WarehouseRobot object, which handles the low-level simulation and rendering.</a:t>
            </a:r>
            <a:endParaRPr/>
          </a:p>
          <a:p>
            <a:pPr indent="0" lvl="0" marL="0" rtl="0" algn="l">
              <a:spcBef>
                <a:spcPts val="0"/>
              </a:spcBef>
              <a:spcAft>
                <a:spcPts val="0"/>
              </a:spcAft>
              <a:buNone/>
            </a:pPr>
            <a:r>
              <a:rPr lang="en-US"/>
              <a:t>BaseAgent is an abstract class, and RandomAgent and GreedyAgent inherit from it.</a:t>
            </a:r>
            <a:endParaRPr/>
          </a:p>
          <a:p>
            <a:pPr indent="0" lvl="0" marL="0" rtl="0" algn="l">
              <a:spcBef>
                <a:spcPts val="0"/>
              </a:spcBef>
              <a:spcAft>
                <a:spcPts val="0"/>
              </a:spcAft>
              <a:buNone/>
            </a:pPr>
            <a:r>
              <a:rPr lang="en-US"/>
              <a:t>Trainer uses both the environment and the agent to run episodes and compute statistics.</a:t>
            </a:r>
            <a:endParaRPr/>
          </a:p>
          <a:p>
            <a:pPr indent="0" lvl="0" marL="0" rtl="0" algn="l">
              <a:spcBef>
                <a:spcPts val="0"/>
              </a:spcBef>
              <a:spcAft>
                <a:spcPts val="0"/>
              </a:spcAft>
              <a:buNone/>
            </a:pPr>
            <a:r>
              <a:rPr lang="en-US"/>
              <a:t>RobotAction is an enum defining the four discrete actions used in the environment.</a:t>
            </a:r>
            <a:endParaRPr/>
          </a:p>
        </p:txBody>
      </p:sp>
      <p:sp>
        <p:nvSpPr>
          <p:cNvPr id="137" name="Google Shape;137;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conclude, this project demonstrates a clean and modular object-oriented design. It can easily be extended with smarter agents or reinforcement learning algorithms.</a:t>
            </a:r>
            <a:endParaRPr/>
          </a:p>
        </p:txBody>
      </p:sp>
      <p:sp>
        <p:nvSpPr>
          <p:cNvPr id="146" name="Google Shape;146;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1" name="Google Shape;31;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8" name="Google Shape;3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4" name="Google Shape;44;p1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5" name="Google Shape;45;p1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1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1792288" y="612775"/>
            <a:ext cx="5486400" cy="4114800"/>
          </a:xfrm>
          <a:prstGeom prst="rect">
            <a:avLst/>
          </a:prstGeom>
          <a:noFill/>
          <a:ln>
            <a:noFill/>
          </a:ln>
        </p:spPr>
      </p:sp>
      <p:sp>
        <p:nvSpPr>
          <p:cNvPr id="64" name="Google Shape;64;p1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84" name="Shape 84"/>
        <p:cNvGrpSpPr/>
        <p:nvPr/>
      </p:nvGrpSpPr>
      <p:grpSpPr>
        <a:xfrm>
          <a:off x="0" y="0"/>
          <a:ext cx="0" cy="0"/>
          <a:chOff x="0" y="0"/>
          <a:chExt cx="0" cy="0"/>
        </a:xfrm>
      </p:grpSpPr>
      <p:sp>
        <p:nvSpPr>
          <p:cNvPr id="85" name="Google Shape;85;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060"/>
              </a:buClr>
              <a:buSzPts val="3600"/>
              <a:buFont typeface="Calibri"/>
              <a:buNone/>
            </a:pPr>
            <a:r>
              <a:rPr b="1" lang="en-US" sz="3600">
                <a:solidFill>
                  <a:srgbClr val="204060"/>
                </a:solidFill>
              </a:rPr>
              <a:t>Warehouse Robot Project</a:t>
            </a:r>
            <a:endParaRPr/>
          </a:p>
        </p:txBody>
      </p:sp>
      <p:sp>
        <p:nvSpPr>
          <p:cNvPr id="86" name="Google Shape;86;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2D2D2D"/>
              </a:buClr>
              <a:buSzPts val="1800"/>
              <a:buNone/>
            </a:pPr>
            <a:r>
              <a:rPr lang="en-US" sz="2600">
                <a:solidFill>
                  <a:srgbClr val="2D2D2D"/>
                </a:solidFill>
              </a:rPr>
              <a:t>Object-Oriented Design &amp; Simulation</a:t>
            </a:r>
            <a:endParaRPr sz="2600">
              <a:solidFill>
                <a:srgbClr val="2D2D2D"/>
              </a:solidFill>
            </a:endParaRPr>
          </a:p>
          <a:p>
            <a:pPr indent="0" lvl="0" marL="0" rtl="0" algn="ctr">
              <a:spcBef>
                <a:spcPts val="0"/>
              </a:spcBef>
              <a:spcAft>
                <a:spcPts val="0"/>
              </a:spcAft>
              <a:buClr>
                <a:srgbClr val="2D2D2D"/>
              </a:buClr>
              <a:buSzPts val="1800"/>
              <a:buNone/>
            </a:pPr>
            <a:r>
              <a:t/>
            </a:r>
            <a:endParaRPr sz="1800">
              <a:solidFill>
                <a:srgbClr val="2D2D2D"/>
              </a:solidFill>
            </a:endParaRPr>
          </a:p>
          <a:p>
            <a:pPr indent="0" lvl="0" marL="0" rtl="0" algn="ctr">
              <a:spcBef>
                <a:spcPts val="0"/>
              </a:spcBef>
              <a:spcAft>
                <a:spcPts val="0"/>
              </a:spcAft>
              <a:buClr>
                <a:srgbClr val="2D2D2D"/>
              </a:buClr>
              <a:buSzPts val="1800"/>
              <a:buNone/>
            </a:pPr>
            <a:r>
              <a:rPr lang="en-US" sz="1800">
                <a:solidFill>
                  <a:srgbClr val="2D2D2D"/>
                </a:solidFill>
              </a:rPr>
              <a:t>Mickael </a:t>
            </a:r>
            <a:r>
              <a:rPr lang="en-US" sz="1800">
                <a:solidFill>
                  <a:srgbClr val="2D2D2D"/>
                </a:solidFill>
              </a:rPr>
              <a:t>Osorio</a:t>
            </a:r>
            <a:r>
              <a:rPr lang="en-US" sz="1800">
                <a:solidFill>
                  <a:srgbClr val="2D2D2D"/>
                </a:solidFill>
              </a:rPr>
              <a:t> J14304002</a:t>
            </a:r>
            <a:endParaRPr sz="1800">
              <a:solidFill>
                <a:srgbClr val="2D2D2D"/>
              </a:solidFill>
            </a:endParaRPr>
          </a:p>
          <a:p>
            <a:pPr indent="0" lvl="0" marL="0" rtl="0" algn="ctr">
              <a:spcBef>
                <a:spcPts val="0"/>
              </a:spcBef>
              <a:spcAft>
                <a:spcPts val="0"/>
              </a:spcAft>
              <a:buClr>
                <a:srgbClr val="2D2D2D"/>
              </a:buClr>
              <a:buSzPts val="1800"/>
              <a:buNone/>
            </a:pPr>
            <a:r>
              <a:rPr lang="en-US" sz="1800">
                <a:solidFill>
                  <a:srgbClr val="2D2D2D"/>
                </a:solidFill>
              </a:rPr>
              <a:t>Jean Jedidia Leong J14304003</a:t>
            </a:r>
            <a:endParaRPr sz="1800">
              <a:solidFill>
                <a:srgbClr val="2D2D2D"/>
              </a:solidFill>
            </a:endParaRPr>
          </a:p>
        </p:txBody>
      </p:sp>
      <p:sp>
        <p:nvSpPr>
          <p:cNvPr id="87" name="Google Shape;87;p1"/>
          <p:cNvSpPr/>
          <p:nvPr/>
        </p:nvSpPr>
        <p:spPr>
          <a:xfrm>
            <a:off x="685800" y="3663950"/>
            <a:ext cx="7772400" cy="38100"/>
          </a:xfrm>
          <a:prstGeom prst="rect">
            <a:avLst/>
          </a:prstGeom>
          <a:solidFill>
            <a:srgbClr val="4682B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88" name="Google Shape;88;p1" title="cute-robot-head-icon-logo-design-illustration-bot-robotic-logo-for-business-design-template-with-futuristic-flat-black-minimalist-style-isolated-on-white-background-vector.png"/>
          <p:cNvPicPr preferRelativeResize="0"/>
          <p:nvPr/>
        </p:nvPicPr>
        <p:blipFill>
          <a:blip r:embed="rId3">
            <a:alphaModFix/>
          </a:blip>
          <a:stretch>
            <a:fillRect/>
          </a:stretch>
        </p:blipFill>
        <p:spPr>
          <a:xfrm>
            <a:off x="3665688" y="317800"/>
            <a:ext cx="1812626" cy="18126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93" name="Shape 93"/>
        <p:cNvGrpSpPr/>
        <p:nvPr/>
      </p:nvGrpSpPr>
      <p:grpSpPr>
        <a:xfrm>
          <a:off x="0" y="0"/>
          <a:ext cx="0" cy="0"/>
          <a:chOff x="0" y="0"/>
          <a:chExt cx="0" cy="0"/>
        </a:xfrm>
      </p:grpSpPr>
      <p:sp>
        <p:nvSpPr>
          <p:cNvPr id="94" name="Google Shape;94;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060"/>
              </a:buClr>
              <a:buSzPts val="3600"/>
              <a:buFont typeface="Calibri"/>
              <a:buNone/>
            </a:pPr>
            <a:r>
              <a:rPr b="1" lang="en-US" sz="3600">
                <a:solidFill>
                  <a:srgbClr val="204060"/>
                </a:solidFill>
              </a:rPr>
              <a:t>Live Demo &amp; Code Overview</a:t>
            </a:r>
            <a:endParaRPr/>
          </a:p>
        </p:txBody>
      </p:sp>
      <p:sp>
        <p:nvSpPr>
          <p:cNvPr id="95" name="Google Shape;95;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342900" rtl="0" algn="l">
              <a:spcBef>
                <a:spcPts val="0"/>
              </a:spcBef>
              <a:spcAft>
                <a:spcPts val="0"/>
              </a:spcAft>
              <a:buNone/>
            </a:pPr>
            <a:r>
              <a:rPr lang="en-US" sz="3400">
                <a:solidFill>
                  <a:srgbClr val="2D2D2D"/>
                </a:solidFill>
              </a:rPr>
              <a:t>• Robot moves on a 2D grid</a:t>
            </a:r>
            <a:endParaRPr sz="4800"/>
          </a:p>
          <a:p>
            <a:pPr indent="0" lvl="0" marL="342900" rtl="0" algn="l">
              <a:spcBef>
                <a:spcPts val="360"/>
              </a:spcBef>
              <a:spcAft>
                <a:spcPts val="0"/>
              </a:spcAft>
              <a:buNone/>
            </a:pPr>
            <a:r>
              <a:rPr lang="en-US" sz="3400">
                <a:solidFill>
                  <a:srgbClr val="2D2D2D"/>
                </a:solidFill>
              </a:rPr>
              <a:t>• Target must be reached</a:t>
            </a:r>
            <a:endParaRPr sz="4800"/>
          </a:p>
          <a:p>
            <a:pPr indent="0" lvl="0" marL="342900" rtl="0" algn="l">
              <a:spcBef>
                <a:spcPts val="360"/>
              </a:spcBef>
              <a:spcAft>
                <a:spcPts val="0"/>
              </a:spcAft>
              <a:buNone/>
            </a:pPr>
            <a:r>
              <a:rPr lang="en-US" sz="3400">
                <a:solidFill>
                  <a:srgbClr val="2D2D2D"/>
                </a:solidFill>
              </a:rPr>
              <a:t>• Obstacles and battery (advanced version)</a:t>
            </a:r>
            <a:endParaRPr sz="4800"/>
          </a:p>
          <a:p>
            <a:pPr indent="0" lvl="0" marL="342900" rtl="0" algn="l">
              <a:spcBef>
                <a:spcPts val="360"/>
              </a:spcBef>
              <a:spcAft>
                <a:spcPts val="0"/>
              </a:spcAft>
              <a:buNone/>
            </a:pPr>
            <a:r>
              <a:rPr lang="en-US" sz="3400">
                <a:solidFill>
                  <a:srgbClr val="2D2D2D"/>
                </a:solidFill>
              </a:rPr>
              <a:t>• Agent selects actions</a:t>
            </a:r>
            <a:endParaRPr sz="4800"/>
          </a:p>
        </p:txBody>
      </p:sp>
      <p:sp>
        <p:nvSpPr>
          <p:cNvPr id="96" name="Google Shape;96;p2"/>
          <p:cNvSpPr/>
          <p:nvPr/>
        </p:nvSpPr>
        <p:spPr>
          <a:xfrm>
            <a:off x="457200" y="1481138"/>
            <a:ext cx="8229600" cy="38100"/>
          </a:xfrm>
          <a:prstGeom prst="rect">
            <a:avLst/>
          </a:prstGeom>
          <a:solidFill>
            <a:srgbClr val="4682B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97" name="Google Shape;97;p2" title="cute-robot-head-icon-logo-design-illustration-bot-robotic-logo-for-business-design-template-with-futuristic-flat-black-minimalist-style-isolated-on-white-background-vector.png"/>
          <p:cNvPicPr preferRelativeResize="0"/>
          <p:nvPr/>
        </p:nvPicPr>
        <p:blipFill>
          <a:blip r:embed="rId3">
            <a:alphaModFix/>
          </a:blip>
          <a:stretch>
            <a:fillRect/>
          </a:stretch>
        </p:blipFill>
        <p:spPr>
          <a:xfrm>
            <a:off x="6874175" y="4582725"/>
            <a:ext cx="1812626" cy="18126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02" name="Shape 102"/>
        <p:cNvGrpSpPr/>
        <p:nvPr/>
      </p:nvGrpSpPr>
      <p:grpSpPr>
        <a:xfrm>
          <a:off x="0" y="0"/>
          <a:ext cx="0" cy="0"/>
          <a:chOff x="0" y="0"/>
          <a:chExt cx="0" cy="0"/>
        </a:xfrm>
      </p:grpSpPr>
      <p:sp>
        <p:nvSpPr>
          <p:cNvPr id="103" name="Google Shape;103;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060"/>
              </a:buClr>
              <a:buSzPts val="3600"/>
              <a:buFont typeface="Calibri"/>
              <a:buNone/>
            </a:pPr>
            <a:r>
              <a:rPr b="1" lang="en-US" sz="3600">
                <a:solidFill>
                  <a:srgbClr val="204060"/>
                </a:solidFill>
              </a:rPr>
              <a:t>Project Versions</a:t>
            </a:r>
            <a:endParaRPr/>
          </a:p>
        </p:txBody>
      </p:sp>
      <p:sp>
        <p:nvSpPr>
          <p:cNvPr id="104" name="Google Shape;104;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444500" lvl="0" marL="342900" rtl="0" algn="l">
              <a:spcBef>
                <a:spcPts val="0"/>
              </a:spcBef>
              <a:spcAft>
                <a:spcPts val="0"/>
              </a:spcAft>
              <a:buClr>
                <a:srgbClr val="2D2D2D"/>
              </a:buClr>
              <a:buSzPts val="3400"/>
              <a:buChar char="•"/>
            </a:pPr>
            <a:r>
              <a:rPr lang="en-US" sz="3400">
                <a:solidFill>
                  <a:srgbClr val="2D2D2D"/>
                </a:solidFill>
              </a:rPr>
              <a:t>Project 1.0: Basic grid, robot and target</a:t>
            </a:r>
            <a:endParaRPr sz="3400"/>
          </a:p>
          <a:p>
            <a:pPr indent="-444500" lvl="0" marL="342900" rtl="0" algn="l">
              <a:spcBef>
                <a:spcPts val="360"/>
              </a:spcBef>
              <a:spcAft>
                <a:spcPts val="0"/>
              </a:spcAft>
              <a:buClr>
                <a:srgbClr val="2D2D2D"/>
              </a:buClr>
              <a:buSzPts val="3400"/>
              <a:buChar char="•"/>
            </a:pPr>
            <a:r>
              <a:rPr lang="en-US" sz="3400">
                <a:solidFill>
                  <a:srgbClr val="2D2D2D"/>
                </a:solidFill>
              </a:rPr>
              <a:t>Project 2.0: Obstacles and battery constraint</a:t>
            </a:r>
            <a:endParaRPr sz="3400"/>
          </a:p>
          <a:p>
            <a:pPr indent="-444500" lvl="0" marL="342900" rtl="0" algn="l">
              <a:spcBef>
                <a:spcPts val="360"/>
              </a:spcBef>
              <a:spcAft>
                <a:spcPts val="0"/>
              </a:spcAft>
              <a:buClr>
                <a:srgbClr val="2D2D2D"/>
              </a:buClr>
              <a:buSzPts val="3400"/>
              <a:buChar char="•"/>
            </a:pPr>
            <a:r>
              <a:rPr lang="en-US" sz="3400">
                <a:solidFill>
                  <a:srgbClr val="2D2D2D"/>
                </a:solidFill>
              </a:rPr>
              <a:t>Project 3.0: Visual display of obstacles and battery</a:t>
            </a:r>
            <a:endParaRPr sz="3400"/>
          </a:p>
        </p:txBody>
      </p:sp>
      <p:sp>
        <p:nvSpPr>
          <p:cNvPr id="105" name="Google Shape;105;p3"/>
          <p:cNvSpPr/>
          <p:nvPr/>
        </p:nvSpPr>
        <p:spPr>
          <a:xfrm>
            <a:off x="457200" y="1481138"/>
            <a:ext cx="8229600" cy="38100"/>
          </a:xfrm>
          <a:prstGeom prst="rect">
            <a:avLst/>
          </a:prstGeom>
          <a:solidFill>
            <a:srgbClr val="4682B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06" name="Google Shape;106;p3" title="cute-robot-head-icon-logo-design-illustration-bot-robotic-logo-for-business-design-template-with-futuristic-flat-black-minimalist-style-isolated-on-white-background-vector.png"/>
          <p:cNvPicPr preferRelativeResize="0"/>
          <p:nvPr/>
        </p:nvPicPr>
        <p:blipFill>
          <a:blip r:embed="rId3">
            <a:alphaModFix/>
          </a:blip>
          <a:stretch>
            <a:fillRect/>
          </a:stretch>
        </p:blipFill>
        <p:spPr>
          <a:xfrm>
            <a:off x="6874175" y="4582725"/>
            <a:ext cx="1812626" cy="18126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11" name="Shape 111"/>
        <p:cNvGrpSpPr/>
        <p:nvPr/>
      </p:nvGrpSpPr>
      <p:grpSpPr>
        <a:xfrm>
          <a:off x="0" y="0"/>
          <a:ext cx="0" cy="0"/>
          <a:chOff x="0" y="0"/>
          <a:chExt cx="0" cy="0"/>
        </a:xfrm>
      </p:grpSpPr>
      <p:sp>
        <p:nvSpPr>
          <p:cNvPr id="112" name="Google Shape;11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060"/>
              </a:buClr>
              <a:buSzPts val="3600"/>
              <a:buFont typeface="Calibri"/>
              <a:buNone/>
            </a:pPr>
            <a:r>
              <a:rPr b="1" lang="en-US" sz="3600">
                <a:solidFill>
                  <a:srgbClr val="204060"/>
                </a:solidFill>
              </a:rPr>
              <a:t>Environment Design</a:t>
            </a:r>
            <a:endParaRPr/>
          </a:p>
        </p:txBody>
      </p:sp>
      <p:sp>
        <p:nvSpPr>
          <p:cNvPr id="113" name="Google Shape;11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342900" rtl="0" algn="l">
              <a:spcBef>
                <a:spcPts val="0"/>
              </a:spcBef>
              <a:spcAft>
                <a:spcPts val="0"/>
              </a:spcAft>
              <a:buNone/>
            </a:pPr>
            <a:r>
              <a:rPr lang="en-US" sz="3400">
                <a:solidFill>
                  <a:srgbClr val="2D2D2D"/>
                </a:solidFill>
              </a:rPr>
              <a:t>• Gymnasium-based environment</a:t>
            </a:r>
            <a:endParaRPr sz="3400"/>
          </a:p>
          <a:p>
            <a:pPr indent="0" lvl="0" marL="342900" rtl="0" algn="l">
              <a:spcBef>
                <a:spcPts val="360"/>
              </a:spcBef>
              <a:spcAft>
                <a:spcPts val="0"/>
              </a:spcAft>
              <a:buNone/>
            </a:pPr>
            <a:r>
              <a:rPr lang="en-US" sz="3400">
                <a:solidFill>
                  <a:srgbClr val="2D2D2D"/>
                </a:solidFill>
              </a:rPr>
              <a:t>• Manages grid, robot, target</a:t>
            </a:r>
            <a:endParaRPr sz="3400"/>
          </a:p>
          <a:p>
            <a:pPr indent="0" lvl="0" marL="342900" rtl="0" algn="l">
              <a:spcBef>
                <a:spcPts val="360"/>
              </a:spcBef>
              <a:spcAft>
                <a:spcPts val="0"/>
              </a:spcAft>
              <a:buNone/>
            </a:pPr>
            <a:r>
              <a:rPr lang="en-US" sz="3400">
                <a:solidFill>
                  <a:srgbClr val="2D2D2D"/>
                </a:solidFill>
              </a:rPr>
              <a:t>• Handles rewards and termination</a:t>
            </a:r>
            <a:endParaRPr sz="3400"/>
          </a:p>
          <a:p>
            <a:pPr indent="0" lvl="0" marL="342900" rtl="0" algn="l">
              <a:spcBef>
                <a:spcPts val="360"/>
              </a:spcBef>
              <a:spcAft>
                <a:spcPts val="0"/>
              </a:spcAft>
              <a:buNone/>
            </a:pPr>
            <a:r>
              <a:rPr lang="en-US" sz="3400">
                <a:solidFill>
                  <a:srgbClr val="2D2D2D"/>
                </a:solidFill>
              </a:rPr>
              <a:t>• Returns observations to the agent</a:t>
            </a:r>
            <a:endParaRPr sz="3400"/>
          </a:p>
        </p:txBody>
      </p:sp>
      <p:sp>
        <p:nvSpPr>
          <p:cNvPr id="114" name="Google Shape;114;p4"/>
          <p:cNvSpPr/>
          <p:nvPr/>
        </p:nvSpPr>
        <p:spPr>
          <a:xfrm>
            <a:off x="457200" y="1481138"/>
            <a:ext cx="8229600" cy="38100"/>
          </a:xfrm>
          <a:prstGeom prst="rect">
            <a:avLst/>
          </a:prstGeom>
          <a:solidFill>
            <a:srgbClr val="4682B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15" name="Google Shape;115;p4" title="cute-robot-head-icon-logo-design-illustration-bot-robotic-logo-for-business-design-template-with-futuristic-flat-black-minimalist-style-isolated-on-white-background-vector.png"/>
          <p:cNvPicPr preferRelativeResize="0"/>
          <p:nvPr/>
        </p:nvPicPr>
        <p:blipFill>
          <a:blip r:embed="rId3">
            <a:alphaModFix/>
          </a:blip>
          <a:stretch>
            <a:fillRect/>
          </a:stretch>
        </p:blipFill>
        <p:spPr>
          <a:xfrm>
            <a:off x="6874175" y="4582725"/>
            <a:ext cx="1812626" cy="18126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20" name="Shape 120"/>
        <p:cNvGrpSpPr/>
        <p:nvPr/>
      </p:nvGrpSpPr>
      <p:grpSpPr>
        <a:xfrm>
          <a:off x="0" y="0"/>
          <a:ext cx="0" cy="0"/>
          <a:chOff x="0" y="0"/>
          <a:chExt cx="0" cy="0"/>
        </a:xfrm>
      </p:grpSpPr>
      <p:sp>
        <p:nvSpPr>
          <p:cNvPr id="121" name="Google Shape;121;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060"/>
              </a:buClr>
              <a:buSzPts val="3600"/>
              <a:buFont typeface="Calibri"/>
              <a:buNone/>
            </a:pPr>
            <a:r>
              <a:rPr b="1" lang="en-US" sz="3600">
                <a:solidFill>
                  <a:srgbClr val="204060"/>
                </a:solidFill>
              </a:rPr>
              <a:t>Agent Design</a:t>
            </a:r>
            <a:endParaRPr/>
          </a:p>
        </p:txBody>
      </p:sp>
      <p:sp>
        <p:nvSpPr>
          <p:cNvPr id="122" name="Google Shape;122;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444500" lvl="0" marL="342900" rtl="0" algn="l">
              <a:spcBef>
                <a:spcPts val="0"/>
              </a:spcBef>
              <a:spcAft>
                <a:spcPts val="0"/>
              </a:spcAft>
              <a:buClr>
                <a:srgbClr val="2D2D2D"/>
              </a:buClr>
              <a:buSzPts val="3400"/>
              <a:buChar char="•"/>
            </a:pPr>
            <a:r>
              <a:rPr lang="en-US" sz="3400">
                <a:solidFill>
                  <a:srgbClr val="2D2D2D"/>
                </a:solidFill>
              </a:rPr>
              <a:t>BaseAgent (abstract class)</a:t>
            </a:r>
            <a:endParaRPr sz="3400"/>
          </a:p>
          <a:p>
            <a:pPr indent="-444500" lvl="0" marL="342900" rtl="0" algn="l">
              <a:spcBef>
                <a:spcPts val="360"/>
              </a:spcBef>
              <a:spcAft>
                <a:spcPts val="0"/>
              </a:spcAft>
              <a:buClr>
                <a:srgbClr val="2D2D2D"/>
              </a:buClr>
              <a:buSzPts val="3400"/>
              <a:buChar char="•"/>
            </a:pPr>
            <a:r>
              <a:rPr lang="en-US" sz="3400">
                <a:solidFill>
                  <a:srgbClr val="2D2D2D"/>
                </a:solidFill>
              </a:rPr>
              <a:t>RandomAgent: random actions</a:t>
            </a:r>
            <a:endParaRPr sz="3400"/>
          </a:p>
          <a:p>
            <a:pPr indent="-444500" lvl="0" marL="342900" rtl="0" algn="l">
              <a:spcBef>
                <a:spcPts val="360"/>
              </a:spcBef>
              <a:spcAft>
                <a:spcPts val="0"/>
              </a:spcAft>
              <a:buClr>
                <a:srgbClr val="2D2D2D"/>
              </a:buClr>
              <a:buSzPts val="3400"/>
              <a:buChar char="•"/>
            </a:pPr>
            <a:r>
              <a:rPr lang="en-US" sz="3400">
                <a:solidFill>
                  <a:srgbClr val="2D2D2D"/>
                </a:solidFill>
              </a:rPr>
              <a:t>GreedyAgent: moves toward target</a:t>
            </a:r>
            <a:endParaRPr sz="3400"/>
          </a:p>
          <a:p>
            <a:pPr indent="-444500" lvl="0" marL="342900" rtl="0" algn="l">
              <a:spcBef>
                <a:spcPts val="360"/>
              </a:spcBef>
              <a:spcAft>
                <a:spcPts val="0"/>
              </a:spcAft>
              <a:buClr>
                <a:srgbClr val="2D2D2D"/>
              </a:buClr>
              <a:buSzPts val="3400"/>
              <a:buChar char="•"/>
            </a:pPr>
            <a:r>
              <a:rPr lang="en-US" sz="3400">
                <a:solidFill>
                  <a:srgbClr val="2D2D2D"/>
                </a:solidFill>
              </a:rPr>
              <a:t>Same interface, different behaviors</a:t>
            </a:r>
            <a:endParaRPr sz="3400"/>
          </a:p>
        </p:txBody>
      </p:sp>
      <p:sp>
        <p:nvSpPr>
          <p:cNvPr id="123" name="Google Shape;123;p5"/>
          <p:cNvSpPr/>
          <p:nvPr/>
        </p:nvSpPr>
        <p:spPr>
          <a:xfrm>
            <a:off x="457200" y="1481138"/>
            <a:ext cx="8229600" cy="38100"/>
          </a:xfrm>
          <a:prstGeom prst="rect">
            <a:avLst/>
          </a:prstGeom>
          <a:solidFill>
            <a:srgbClr val="4682B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24" name="Google Shape;124;p5" title="cute-robot-head-icon-logo-design-illustration-bot-robotic-logo-for-business-design-template-with-futuristic-flat-black-minimalist-style-isolated-on-white-background-vector.png"/>
          <p:cNvPicPr preferRelativeResize="0"/>
          <p:nvPr/>
        </p:nvPicPr>
        <p:blipFill>
          <a:blip r:embed="rId3">
            <a:alphaModFix/>
          </a:blip>
          <a:stretch>
            <a:fillRect/>
          </a:stretch>
        </p:blipFill>
        <p:spPr>
          <a:xfrm>
            <a:off x="6874175" y="4582725"/>
            <a:ext cx="1812626" cy="18126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29" name="Shape 129"/>
        <p:cNvGrpSpPr/>
        <p:nvPr/>
      </p:nvGrpSpPr>
      <p:grpSpPr>
        <a:xfrm>
          <a:off x="0" y="0"/>
          <a:ext cx="0" cy="0"/>
          <a:chOff x="0" y="0"/>
          <a:chExt cx="0" cy="0"/>
        </a:xfrm>
      </p:grpSpPr>
      <p:sp>
        <p:nvSpPr>
          <p:cNvPr id="130" name="Google Shape;130;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060"/>
              </a:buClr>
              <a:buSzPts val="3600"/>
              <a:buFont typeface="Calibri"/>
              <a:buNone/>
            </a:pPr>
            <a:r>
              <a:rPr b="1" lang="en-US" sz="3600">
                <a:solidFill>
                  <a:srgbClr val="204060"/>
                </a:solidFill>
              </a:rPr>
              <a:t>Trainer Class</a:t>
            </a:r>
            <a:endParaRPr/>
          </a:p>
        </p:txBody>
      </p:sp>
      <p:sp>
        <p:nvSpPr>
          <p:cNvPr id="131" name="Google Shape;131;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342900" rtl="0" algn="l">
              <a:spcBef>
                <a:spcPts val="0"/>
              </a:spcBef>
              <a:spcAft>
                <a:spcPts val="0"/>
              </a:spcAft>
              <a:buNone/>
            </a:pPr>
            <a:r>
              <a:rPr lang="en-US" sz="3400">
                <a:solidFill>
                  <a:srgbClr val="2D2D2D"/>
                </a:solidFill>
              </a:rPr>
              <a:t>• Runs episodes</a:t>
            </a:r>
            <a:endParaRPr sz="3400"/>
          </a:p>
          <a:p>
            <a:pPr indent="0" lvl="0" marL="342900" rtl="0" algn="l">
              <a:spcBef>
                <a:spcPts val="360"/>
              </a:spcBef>
              <a:spcAft>
                <a:spcPts val="0"/>
              </a:spcAft>
              <a:buNone/>
            </a:pPr>
            <a:r>
              <a:rPr lang="en-US" sz="3400">
                <a:solidFill>
                  <a:srgbClr val="2D2D2D"/>
                </a:solidFill>
              </a:rPr>
              <a:t>• Connects agent and environment</a:t>
            </a:r>
            <a:endParaRPr sz="3400"/>
          </a:p>
          <a:p>
            <a:pPr indent="0" lvl="0" marL="342900" rtl="0" algn="l">
              <a:spcBef>
                <a:spcPts val="360"/>
              </a:spcBef>
              <a:spcAft>
                <a:spcPts val="0"/>
              </a:spcAft>
              <a:buNone/>
            </a:pPr>
            <a:r>
              <a:rPr lang="en-US" sz="3400">
                <a:solidFill>
                  <a:srgbClr val="2D2D2D"/>
                </a:solidFill>
              </a:rPr>
              <a:t>• Collects statistics</a:t>
            </a:r>
            <a:endParaRPr sz="3400"/>
          </a:p>
          <a:p>
            <a:pPr indent="0" lvl="0" marL="342900" rtl="0" algn="l">
              <a:spcBef>
                <a:spcPts val="360"/>
              </a:spcBef>
              <a:spcAft>
                <a:spcPts val="0"/>
              </a:spcAft>
              <a:buNone/>
            </a:pPr>
            <a:r>
              <a:rPr lang="en-US" sz="3400">
                <a:solidFill>
                  <a:srgbClr val="2D2D2D"/>
                </a:solidFill>
              </a:rPr>
              <a:t>• Independent from implementations</a:t>
            </a:r>
            <a:endParaRPr sz="3400"/>
          </a:p>
        </p:txBody>
      </p:sp>
      <p:sp>
        <p:nvSpPr>
          <p:cNvPr id="132" name="Google Shape;132;p6"/>
          <p:cNvSpPr/>
          <p:nvPr/>
        </p:nvSpPr>
        <p:spPr>
          <a:xfrm>
            <a:off x="457200" y="1481138"/>
            <a:ext cx="8229600" cy="38100"/>
          </a:xfrm>
          <a:prstGeom prst="rect">
            <a:avLst/>
          </a:prstGeom>
          <a:solidFill>
            <a:srgbClr val="4682B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33" name="Google Shape;133;p6" title="cute-robot-head-icon-logo-design-illustration-bot-robotic-logo-for-business-design-template-with-futuristic-flat-black-minimalist-style-isolated-on-white-background-vector.png"/>
          <p:cNvPicPr preferRelativeResize="0"/>
          <p:nvPr/>
        </p:nvPicPr>
        <p:blipFill>
          <a:blip r:embed="rId3">
            <a:alphaModFix/>
          </a:blip>
          <a:stretch>
            <a:fillRect/>
          </a:stretch>
        </p:blipFill>
        <p:spPr>
          <a:xfrm>
            <a:off x="6874175" y="4582725"/>
            <a:ext cx="1812626" cy="18126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38" name="Shape 138"/>
        <p:cNvGrpSpPr/>
        <p:nvPr/>
      </p:nvGrpSpPr>
      <p:grpSpPr>
        <a:xfrm>
          <a:off x="0" y="0"/>
          <a:ext cx="0" cy="0"/>
          <a:chOff x="0" y="0"/>
          <a:chExt cx="0" cy="0"/>
        </a:xfrm>
      </p:grpSpPr>
      <p:sp>
        <p:nvSpPr>
          <p:cNvPr id="139" name="Google Shape;139;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060"/>
              </a:buClr>
              <a:buSzPts val="3600"/>
              <a:buFont typeface="Calibri"/>
              <a:buNone/>
            </a:pPr>
            <a:r>
              <a:rPr b="1" lang="en-US" sz="3600">
                <a:solidFill>
                  <a:srgbClr val="204060"/>
                </a:solidFill>
              </a:rPr>
              <a:t>Basic </a:t>
            </a:r>
            <a:r>
              <a:rPr b="1" lang="en-US" sz="3600">
                <a:solidFill>
                  <a:srgbClr val="204060"/>
                </a:solidFill>
              </a:rPr>
              <a:t>UML Diagram </a:t>
            </a:r>
            <a:endParaRPr/>
          </a:p>
        </p:txBody>
      </p:sp>
      <p:sp>
        <p:nvSpPr>
          <p:cNvPr id="140" name="Google Shape;140;p7"/>
          <p:cNvSpPr txBox="1"/>
          <p:nvPr/>
        </p:nvSpPr>
        <p:spPr>
          <a:xfrm>
            <a:off x="6309360" y="1143000"/>
            <a:ext cx="1280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141" name="Google Shape;141;p7"/>
          <p:cNvSpPr/>
          <p:nvPr/>
        </p:nvSpPr>
        <p:spPr>
          <a:xfrm>
            <a:off x="457200" y="1481138"/>
            <a:ext cx="8229600" cy="38100"/>
          </a:xfrm>
          <a:prstGeom prst="rect">
            <a:avLst/>
          </a:prstGeom>
          <a:solidFill>
            <a:srgbClr val="4682B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42" name="Google Shape;142;p7" title="ChatGPT Image 16 déc. 2025, 13_57_19 (1).png"/>
          <p:cNvPicPr preferRelativeResize="0"/>
          <p:nvPr/>
        </p:nvPicPr>
        <p:blipFill>
          <a:blip r:embed="rId3">
            <a:alphaModFix/>
          </a:blip>
          <a:stretch>
            <a:fillRect/>
          </a:stretch>
        </p:blipFill>
        <p:spPr>
          <a:xfrm>
            <a:off x="796525" y="1549588"/>
            <a:ext cx="7550944" cy="50339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47" name="Shape 147"/>
        <p:cNvGrpSpPr/>
        <p:nvPr/>
      </p:nvGrpSpPr>
      <p:grpSpPr>
        <a:xfrm>
          <a:off x="0" y="0"/>
          <a:ext cx="0" cy="0"/>
          <a:chOff x="0" y="0"/>
          <a:chExt cx="0" cy="0"/>
        </a:xfrm>
      </p:grpSpPr>
      <p:sp>
        <p:nvSpPr>
          <p:cNvPr id="148" name="Google Shape;148;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060"/>
              </a:buClr>
              <a:buSzPts val="3600"/>
              <a:buFont typeface="Calibri"/>
              <a:buNone/>
            </a:pPr>
            <a:r>
              <a:rPr b="1" lang="en-US" sz="3600">
                <a:solidFill>
                  <a:srgbClr val="204060"/>
                </a:solidFill>
              </a:rPr>
              <a:t>Conclusion</a:t>
            </a:r>
            <a:endParaRPr/>
          </a:p>
        </p:txBody>
      </p:sp>
      <p:sp>
        <p:nvSpPr>
          <p:cNvPr id="149" name="Google Shape;149;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342900" rtl="0" algn="l">
              <a:spcBef>
                <a:spcPts val="0"/>
              </a:spcBef>
              <a:spcAft>
                <a:spcPts val="0"/>
              </a:spcAft>
              <a:buNone/>
            </a:pPr>
            <a:r>
              <a:rPr lang="en-US" sz="3400">
                <a:solidFill>
                  <a:srgbClr val="2D2D2D"/>
                </a:solidFill>
              </a:rPr>
              <a:t>• Clear OOP architecture</a:t>
            </a:r>
            <a:endParaRPr sz="3400"/>
          </a:p>
          <a:p>
            <a:pPr indent="0" lvl="0" marL="342900" rtl="0" algn="l">
              <a:spcBef>
                <a:spcPts val="360"/>
              </a:spcBef>
              <a:spcAft>
                <a:spcPts val="0"/>
              </a:spcAft>
              <a:buNone/>
            </a:pPr>
            <a:r>
              <a:rPr lang="en-US" sz="3400">
                <a:solidFill>
                  <a:srgbClr val="2D2D2D"/>
                </a:solidFill>
              </a:rPr>
              <a:t>• Modular and extensible</a:t>
            </a:r>
            <a:endParaRPr sz="3400"/>
          </a:p>
          <a:p>
            <a:pPr indent="0" lvl="0" marL="342900" rtl="0" algn="l">
              <a:spcBef>
                <a:spcPts val="360"/>
              </a:spcBef>
              <a:spcAft>
                <a:spcPts val="0"/>
              </a:spcAft>
              <a:buNone/>
            </a:pPr>
            <a:r>
              <a:rPr lang="en-US" sz="3400">
                <a:solidFill>
                  <a:srgbClr val="2D2D2D"/>
                </a:solidFill>
              </a:rPr>
              <a:t>• Ready for reinforcement learning</a:t>
            </a:r>
            <a:endParaRPr sz="3400"/>
          </a:p>
        </p:txBody>
      </p:sp>
      <p:sp>
        <p:nvSpPr>
          <p:cNvPr id="150" name="Google Shape;150;p8"/>
          <p:cNvSpPr/>
          <p:nvPr/>
        </p:nvSpPr>
        <p:spPr>
          <a:xfrm>
            <a:off x="457200" y="1481138"/>
            <a:ext cx="8229600" cy="38100"/>
          </a:xfrm>
          <a:prstGeom prst="rect">
            <a:avLst/>
          </a:prstGeom>
          <a:solidFill>
            <a:srgbClr val="4682B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51" name="Google Shape;151;p8" title="cute-robot-head-icon-logo-design-illustration-bot-robotic-logo-for-business-design-template-with-futuristic-flat-black-minimalist-style-isolated-on-white-background-vector.png"/>
          <p:cNvPicPr preferRelativeResize="0"/>
          <p:nvPr/>
        </p:nvPicPr>
        <p:blipFill>
          <a:blip r:embed="rId3">
            <a:alphaModFix/>
          </a:blip>
          <a:stretch>
            <a:fillRect/>
          </a:stretch>
        </p:blipFill>
        <p:spPr>
          <a:xfrm>
            <a:off x="6874175" y="4582725"/>
            <a:ext cx="1812626" cy="18126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